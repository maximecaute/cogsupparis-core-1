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7" r:id="rId4"/>
    <p:sldId id="265" r:id="rId5"/>
    <p:sldId id="269" r:id="rId6"/>
    <p:sldId id="270" r:id="rId7"/>
    <p:sldId id="276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3DBA-0AC9-A6D8-273D-FEA37B7AE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713E6-0D6B-2F72-FBBE-714078CFE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4BD1B-B2FA-8F05-E46A-9F50BC432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1FF8E-5B1C-12EE-70C7-55491E01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9DC17-7F1D-D72F-04E0-F4F19266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92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03CA2-D653-9F17-1F88-5DD8C94AE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7D6-4359-CB25-B972-AE3216252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79BBB-B6E3-16D0-0BA3-59660502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19633-A302-3DEE-AAFC-F14233DC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BEC9D-C805-539F-6431-965813C7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3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9E95-B17C-6CD2-3897-C9A9E6FC3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A75DF-1E9A-B1A2-9834-C6EBB3253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51BF1-139E-2F49-BD93-BA8A2B8D4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67887-5E0F-33B3-8381-D4E8CA4D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B0E42-7F2A-1C0F-BD34-D4FFCA70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2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6C1C-EF6A-19C6-74F9-B50D74E4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117EA-47C8-73A4-D55B-139C8F334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A37D7-0B52-276D-6587-2BAA2386A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080A0-B5D0-E46D-8DF1-29D0903A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BDFB7-084A-4389-A884-FB6411AB2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76317-2986-9711-91AC-0A655688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14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F244-EE29-7A73-5238-D1CF401C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7B1EB-5EF2-DC81-420B-26B4E75A6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95761-9307-B248-5EEA-E5572F898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2851-5E65-A396-06DA-52D87247B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6C4F06-F506-6EC0-3D32-76400F80A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F5B8D-A6F9-E876-3C16-C84224DFF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9E438-205F-37BC-6CC6-FC14977A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EADC9-D5BE-FDD6-79C2-47FB41C5B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2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77CA0-D26B-2F3A-5EF3-797DF47C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23DBA5-BA16-DA74-43AD-9476C030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27420-80A0-5D05-71A9-D373697A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0D11D-EBD7-974B-3826-16E58E52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99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378E0A-C8DA-C3B7-ED33-190284D99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7CED3F-6E3A-E503-5D1A-4DB4D953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D2064-BB23-ED1D-4F7E-222A8975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33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92BA-6214-63D6-D8EE-DD4794D4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08CBB-D098-4905-41F5-D8BF362B2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77611-B0CC-72F1-FB0C-C92BD5910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3DEB7-DF2C-FBF3-7C11-5A9DE4A25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F15A4-021F-4212-A574-FA9BFBE68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2D852-2152-E401-B872-28D461A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38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5A86-008E-683D-052D-39340AEE9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4C8C9-5E14-FCBC-74EF-06F1113017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B69D3-0DA7-9A09-7FE9-30C393AEF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9672D-9876-1A6E-428C-598FA894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D1007-656D-001A-DABB-27347DF45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F8472-95C5-B72C-D126-43029999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86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7F9ED-E591-DF46-5173-0971ADFF4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A27D8-31A0-3319-FB92-69357D15B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8F832-958E-06B0-F574-6D3374F2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964AA-B4D5-70E5-9460-9720D24E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ED1ED-21F9-BF76-5128-DC0D951F6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3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89262E-4582-474F-AF63-B80B5DFC1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3FE0AB-35EC-D20F-7EA0-341F036C6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E6865-C02F-356A-89FA-4F9B81B2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6F06B-9A81-12EF-6DA5-D3DA744DC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EA4C7-7D70-7310-8EF8-55FA7653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8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4DF75-D173-5586-6ABA-5731C1739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D0301-37F2-D4CB-327F-5A2F52731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B3D26-C02F-B2C7-331C-271C97861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8B744-42A2-4CF8-AC89-BA2F34E0978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84E8E-2D5F-A057-2F39-6CE1BFB49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BDEC8-7221-6735-9439-9F8F61457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5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ichaelbach.de/ot/mot-Ternu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318015-5CAA-320E-CA32-7CBA4A26D58B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Course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269F8-2288-B274-DAD5-349FE443BD86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72390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2000"/>
              </a:lnSpc>
              <a:buNone/>
              <a:defRPr sz="3900" b="1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Building a Ternus</a:t>
            </a:r>
          </a:p>
          <a:p>
            <a:pPr>
              <a:lnSpc>
                <a:spcPct val="92000"/>
              </a:lnSpc>
              <a:buNone/>
              <a:defRPr sz="3900" b="1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experiment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14BD241-39EC-83A8-069A-195C336B66D3}"/>
              </a:ext>
            </a:extLst>
          </p:cNvPr>
          <p:cNvSpPr>
            <a:spLocks noGrp="1"/>
          </p:cNvSpPr>
          <p:nvPr/>
        </p:nvSpPr>
        <p:spPr>
          <a:xfrm>
            <a:off x="9258300" y="2209800"/>
            <a:ext cx="342900" cy="342900"/>
          </a:xfrm>
          <a:prstGeom prst="ellipse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5997FBA-9538-A09E-E1E2-DCD652AFA081}"/>
              </a:ext>
            </a:extLst>
          </p:cNvPr>
          <p:cNvSpPr>
            <a:spLocks noGrp="1"/>
          </p:cNvSpPr>
          <p:nvPr/>
        </p:nvSpPr>
        <p:spPr>
          <a:xfrm>
            <a:off x="9906000" y="2209800"/>
            <a:ext cx="342900" cy="342900"/>
          </a:xfrm>
          <a:prstGeom prst="ellipse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457529-4EDC-9135-52E1-80949BA86FC2}"/>
              </a:ext>
            </a:extLst>
          </p:cNvPr>
          <p:cNvSpPr>
            <a:spLocks noGrp="1"/>
          </p:cNvSpPr>
          <p:nvPr/>
        </p:nvSpPr>
        <p:spPr>
          <a:xfrm>
            <a:off x="10553700" y="2209800"/>
            <a:ext cx="342900" cy="342900"/>
          </a:xfrm>
          <a:prstGeom prst="ellipse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17FC9E-F36D-DFAE-E305-1475CF62EB03}"/>
              </a:ext>
            </a:extLst>
          </p:cNvPr>
          <p:cNvSpPr>
            <a:spLocks noGrp="1"/>
          </p:cNvSpPr>
          <p:nvPr/>
        </p:nvSpPr>
        <p:spPr>
          <a:xfrm>
            <a:off x="9906000" y="3067050"/>
            <a:ext cx="342900" cy="342900"/>
          </a:xfrm>
          <a:prstGeom prst="ellipse">
            <a:avLst/>
          </a:prstGeom>
          <a:solidFill>
            <a:srgbClr val="2F80ED"/>
          </a:solidFill>
          <a:ln w="0">
            <a:solidFill>
              <a:srgbClr val="2F80ED"/>
            </a:solidFill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9BEEA95-98EC-B6C3-21A5-23A122CE298E}"/>
              </a:ext>
            </a:extLst>
          </p:cNvPr>
          <p:cNvSpPr>
            <a:spLocks noGrp="1"/>
          </p:cNvSpPr>
          <p:nvPr/>
        </p:nvSpPr>
        <p:spPr>
          <a:xfrm>
            <a:off x="10553700" y="3067050"/>
            <a:ext cx="342900" cy="342900"/>
          </a:xfrm>
          <a:prstGeom prst="ellipse">
            <a:avLst/>
          </a:prstGeom>
          <a:solidFill>
            <a:srgbClr val="2F80ED"/>
          </a:solidFill>
          <a:ln w="0">
            <a:solidFill>
              <a:srgbClr val="2F80ED"/>
            </a:solidFill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8C3D094-7169-A8FA-03D7-56518BFC67C8}"/>
              </a:ext>
            </a:extLst>
          </p:cNvPr>
          <p:cNvSpPr>
            <a:spLocks noGrp="1"/>
          </p:cNvSpPr>
          <p:nvPr/>
        </p:nvSpPr>
        <p:spPr>
          <a:xfrm>
            <a:off x="11201400" y="3067050"/>
            <a:ext cx="342900" cy="342900"/>
          </a:xfrm>
          <a:prstGeom prst="ellipse">
            <a:avLst/>
          </a:prstGeom>
          <a:solidFill>
            <a:srgbClr val="2F80ED"/>
          </a:solidFill>
          <a:ln w="0">
            <a:solidFill>
              <a:srgbClr val="2F80ED"/>
            </a:solidFill>
          </a:ln>
        </p:spPr>
      </p:sp>
    </p:spTree>
    <p:extLst>
      <p:ext uri="{BB962C8B-B14F-4D97-AF65-F5344CB8AC3E}">
        <p14:creationId xmlns:p14="http://schemas.microsoft.com/office/powerpoint/2010/main" val="206981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AF455-FA65-6523-B694-8793B7CA6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18A816-6570-E1F9-1A72-A1777EFC4A0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dirty="0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The Ternus display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2525E-8991-365C-C024-C3CDEF72290C}"/>
              </a:ext>
            </a:extLst>
          </p:cNvPr>
          <p:cNvSpPr>
            <a:spLocks noGrp="1"/>
          </p:cNvSpPr>
          <p:nvPr/>
        </p:nvSpPr>
        <p:spPr>
          <a:xfrm>
            <a:off x="1200150" y="14859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AFAFA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AFAFAF"/>
                </a:solidFill>
                <a:latin typeface="DejaVu Sans"/>
                <a:ea typeface="DejaVu Sans"/>
                <a:cs typeface="DejaVu Sans"/>
              </a:rPr>
              <a:t>Frame 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7D6326-F7CE-AE29-58A2-AA81564165DF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381000" cy="381000"/>
          </a:xfrm>
          <a:prstGeom prst="ellipse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8702F3-3948-D539-6806-876D230E809F}"/>
              </a:ext>
            </a:extLst>
          </p:cNvPr>
          <p:cNvSpPr>
            <a:spLocks noGrp="1"/>
          </p:cNvSpPr>
          <p:nvPr/>
        </p:nvSpPr>
        <p:spPr>
          <a:xfrm>
            <a:off x="3143250" y="2571750"/>
            <a:ext cx="381000" cy="381000"/>
          </a:xfrm>
          <a:prstGeom prst="ellipse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CF3335B-9CB6-E115-33ED-E6D85C0AFD00}"/>
              </a:ext>
            </a:extLst>
          </p:cNvPr>
          <p:cNvSpPr>
            <a:spLocks noGrp="1"/>
          </p:cNvSpPr>
          <p:nvPr/>
        </p:nvSpPr>
        <p:spPr>
          <a:xfrm>
            <a:off x="4095750" y="2571750"/>
            <a:ext cx="381000" cy="381000"/>
          </a:xfrm>
          <a:prstGeom prst="ellipse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DB8516-0241-777E-957E-709DA8D226B8}"/>
              </a:ext>
            </a:extLst>
          </p:cNvPr>
          <p:cNvSpPr>
            <a:spLocks noGrp="1"/>
          </p:cNvSpPr>
          <p:nvPr/>
        </p:nvSpPr>
        <p:spPr>
          <a:xfrm>
            <a:off x="6591300" y="14859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AFAFA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AFAFAF"/>
                </a:solidFill>
                <a:latin typeface="DejaVu Sans"/>
                <a:ea typeface="DejaVu Sans"/>
                <a:cs typeface="DejaVu Sans"/>
              </a:rPr>
              <a:t>Frame B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3266C7-56F1-9E22-5BE1-FCA93C5D7EDA}"/>
              </a:ext>
            </a:extLst>
          </p:cNvPr>
          <p:cNvSpPr>
            <a:spLocks noGrp="1"/>
          </p:cNvSpPr>
          <p:nvPr/>
        </p:nvSpPr>
        <p:spPr>
          <a:xfrm>
            <a:off x="7581900" y="2571750"/>
            <a:ext cx="381000" cy="381000"/>
          </a:xfrm>
          <a:prstGeom prst="ellipse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9D665EF-EB56-666E-8C01-CCAC0360EE5B}"/>
              </a:ext>
            </a:extLst>
          </p:cNvPr>
          <p:cNvSpPr>
            <a:spLocks noGrp="1"/>
          </p:cNvSpPr>
          <p:nvPr/>
        </p:nvSpPr>
        <p:spPr>
          <a:xfrm>
            <a:off x="8534400" y="2571750"/>
            <a:ext cx="381000" cy="381000"/>
          </a:xfrm>
          <a:prstGeom prst="ellipse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83A3B6-6D7F-848F-4D8B-3830EEC88527}"/>
              </a:ext>
            </a:extLst>
          </p:cNvPr>
          <p:cNvSpPr>
            <a:spLocks noGrp="1"/>
          </p:cNvSpPr>
          <p:nvPr/>
        </p:nvSpPr>
        <p:spPr>
          <a:xfrm>
            <a:off x="9486900" y="2571750"/>
            <a:ext cx="381000" cy="381000"/>
          </a:xfrm>
          <a:prstGeom prst="ellipse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EF1828-78EA-EE30-6EDE-45A568A0BB47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100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100" dirty="0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Three stationary dots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A200E1-B8B2-8FA7-1FA7-8FF344719D6E}"/>
              </a:ext>
            </a:extLst>
          </p:cNvPr>
          <p:cNvSpPr>
            <a:spLocks noGrp="1"/>
          </p:cNvSpPr>
          <p:nvPr/>
        </p:nvSpPr>
        <p:spPr>
          <a:xfrm>
            <a:off x="6630014" y="3524250"/>
            <a:ext cx="3714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100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100" dirty="0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The pattern shifts by one position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AC8E65-CAF8-60A2-D77D-58C07FA3A6A3}"/>
              </a:ext>
            </a:extLst>
          </p:cNvPr>
          <p:cNvSpPr>
            <a:spLocks noGrp="1"/>
          </p:cNvSpPr>
          <p:nvPr/>
        </p:nvSpPr>
        <p:spPr>
          <a:xfrm>
            <a:off x="1428750" y="5295900"/>
            <a:ext cx="9334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25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The motion exists in perception, not inside either frame.</a:t>
            </a:r>
          </a:p>
        </p:txBody>
      </p:sp>
    </p:spTree>
    <p:extLst>
      <p:ext uri="{BB962C8B-B14F-4D97-AF65-F5344CB8AC3E}">
        <p14:creationId xmlns:p14="http://schemas.microsoft.com/office/powerpoint/2010/main" val="2859952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EFA19F-DBB2-EAC7-9814-04C5D4D55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451D25-8F7A-5DFA-12E6-408720307BB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Two possible percepts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9E661-2208-4407-A00B-3C88DAF8526A}"/>
              </a:ext>
            </a:extLst>
          </p:cNvPr>
          <p:cNvSpPr>
            <a:spLocks noGrp="1"/>
          </p:cNvSpPr>
          <p:nvPr/>
        </p:nvSpPr>
        <p:spPr>
          <a:xfrm>
            <a:off x="1066800" y="1600200"/>
            <a:ext cx="409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Element motion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1AEB23-7479-6A10-0D7C-BDA266F154BB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40957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buNone/>
              <a:defRPr sz="2100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Two dots appear to stay still.</a:t>
            </a:r>
          </a:p>
          <a:p>
            <a:pPr>
              <a:lnSpc>
                <a:spcPct val="105000"/>
              </a:lnSpc>
              <a:buNone/>
              <a:defRPr sz="2100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One dot jumps from one end to the other.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203A68-B1CA-B92E-0C9C-45351392B4A1}"/>
              </a:ext>
            </a:extLst>
          </p:cNvPr>
          <p:cNvSpPr>
            <a:spLocks noGrp="1"/>
          </p:cNvSpPr>
          <p:nvPr/>
        </p:nvSpPr>
        <p:spPr>
          <a:xfrm>
            <a:off x="1762125" y="4314825"/>
            <a:ext cx="323850" cy="323850"/>
          </a:xfrm>
          <a:prstGeom prst="ellipse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8724FA-275B-61E8-7C3B-28F0DB06726E}"/>
              </a:ext>
            </a:extLst>
          </p:cNvPr>
          <p:cNvSpPr>
            <a:spLocks noGrp="1"/>
          </p:cNvSpPr>
          <p:nvPr/>
        </p:nvSpPr>
        <p:spPr>
          <a:xfrm>
            <a:off x="2619375" y="4314825"/>
            <a:ext cx="323850" cy="323850"/>
          </a:xfrm>
          <a:prstGeom prst="ellipse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2675E0A-B5D3-089C-8FD6-E42C565D5A78}"/>
              </a:ext>
            </a:extLst>
          </p:cNvPr>
          <p:cNvSpPr>
            <a:spLocks noGrp="1"/>
          </p:cNvSpPr>
          <p:nvPr/>
        </p:nvSpPr>
        <p:spPr>
          <a:xfrm>
            <a:off x="4333875" y="4314825"/>
            <a:ext cx="323850" cy="323850"/>
          </a:xfrm>
          <a:prstGeom prst="ellipse">
            <a:avLst/>
          </a:prstGeom>
          <a:solidFill>
            <a:srgbClr val="2F80ED"/>
          </a:solidFill>
          <a:ln w="0">
            <a:solidFill>
              <a:srgbClr val="2F80ED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56553-A9E5-8F9B-F089-9DC012A52513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19050" cy="3714750"/>
          </a:xfrm>
          <a:prstGeom prst="rect">
            <a:avLst/>
          </a:prstGeom>
          <a:solidFill>
            <a:srgbClr val="3C3C3C"/>
          </a:solidFill>
          <a:ln w="0">
            <a:solidFill>
              <a:srgbClr val="3C3C3C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F0A6A5-209B-B363-6D7A-AA1CDF831A00}"/>
              </a:ext>
            </a:extLst>
          </p:cNvPr>
          <p:cNvSpPr>
            <a:spLocks noGrp="1"/>
          </p:cNvSpPr>
          <p:nvPr/>
        </p:nvSpPr>
        <p:spPr>
          <a:xfrm>
            <a:off x="6819900" y="1600200"/>
            <a:ext cx="409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Group motion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F69DA7-6749-93E4-EE8D-52E68C6317BB}"/>
              </a:ext>
            </a:extLst>
          </p:cNvPr>
          <p:cNvSpPr>
            <a:spLocks noGrp="1"/>
          </p:cNvSpPr>
          <p:nvPr/>
        </p:nvSpPr>
        <p:spPr>
          <a:xfrm>
            <a:off x="6819900" y="2343150"/>
            <a:ext cx="40957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buNone/>
              <a:defRPr sz="2100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All three dots appear to move together</a:t>
            </a:r>
          </a:p>
          <a:p>
            <a:pPr>
              <a:lnSpc>
                <a:spcPct val="105000"/>
              </a:lnSpc>
              <a:buNone/>
              <a:defRPr sz="2100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as one group.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1C54520-728D-7C8E-C54D-A2DD626321CC}"/>
              </a:ext>
            </a:extLst>
          </p:cNvPr>
          <p:cNvSpPr>
            <a:spLocks noGrp="1"/>
          </p:cNvSpPr>
          <p:nvPr/>
        </p:nvSpPr>
        <p:spPr>
          <a:xfrm>
            <a:off x="7553325" y="4314825"/>
            <a:ext cx="323850" cy="323850"/>
          </a:xfrm>
          <a:prstGeom prst="ellipse">
            <a:avLst/>
          </a:prstGeom>
          <a:solidFill>
            <a:srgbClr val="2F80ED"/>
          </a:solidFill>
          <a:ln w="0">
            <a:solidFill>
              <a:srgbClr val="2F80ED"/>
            </a:solidFill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F52197E-C426-E52C-FA32-B2A3579720AE}"/>
              </a:ext>
            </a:extLst>
          </p:cNvPr>
          <p:cNvSpPr>
            <a:spLocks noGrp="1"/>
          </p:cNvSpPr>
          <p:nvPr/>
        </p:nvSpPr>
        <p:spPr>
          <a:xfrm>
            <a:off x="8410575" y="4314825"/>
            <a:ext cx="323850" cy="323850"/>
          </a:xfrm>
          <a:prstGeom prst="ellipse">
            <a:avLst/>
          </a:prstGeom>
          <a:solidFill>
            <a:srgbClr val="2F80ED"/>
          </a:solidFill>
          <a:ln w="0">
            <a:solidFill>
              <a:srgbClr val="2F80ED"/>
            </a:solidFill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15720D8-FEAD-7E5C-39D1-96188C21619C}"/>
              </a:ext>
            </a:extLst>
          </p:cNvPr>
          <p:cNvSpPr>
            <a:spLocks noGrp="1"/>
          </p:cNvSpPr>
          <p:nvPr/>
        </p:nvSpPr>
        <p:spPr>
          <a:xfrm>
            <a:off x="9267825" y="4314825"/>
            <a:ext cx="323850" cy="323850"/>
          </a:xfrm>
          <a:prstGeom prst="ellipse">
            <a:avLst/>
          </a:prstGeom>
          <a:solidFill>
            <a:srgbClr val="2F80ED"/>
          </a:solidFill>
          <a:ln w="0">
            <a:solidFill>
              <a:srgbClr val="2F80ED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0B9DC2-17DB-BA15-90C6-64AFDABA2EE3}"/>
              </a:ext>
            </a:extLst>
          </p:cNvPr>
          <p:cNvSpPr>
            <a:spLocks noGrp="1"/>
          </p:cNvSpPr>
          <p:nvPr/>
        </p:nvSpPr>
        <p:spPr>
          <a:xfrm>
            <a:off x="1428750" y="579120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75">
                <a:solidFill>
                  <a:srgbClr val="AFAFA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AFAFAF"/>
                </a:solidFill>
                <a:latin typeface="DejaVu Sans"/>
                <a:ea typeface="DejaVu Sans"/>
                <a:cs typeface="DejaVu Sans"/>
              </a:rPr>
              <a:t>There is no correct answer. We record what the observer reports.</a:t>
            </a:r>
          </a:p>
        </p:txBody>
      </p:sp>
    </p:spTree>
    <p:extLst>
      <p:ext uri="{BB962C8B-B14F-4D97-AF65-F5344CB8AC3E}">
        <p14:creationId xmlns:p14="http://schemas.microsoft.com/office/powerpoint/2010/main" val="24069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EB646-A1BD-E7BF-F002-BA02CF9F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E6DC08-AF0E-D14A-B9E2-9DAE2A1392B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dirty="0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Ternus</a:t>
            </a:r>
            <a:r>
              <a:rPr lang="pt-BR" sz="2850" b="1" dirty="0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 example</a:t>
            </a:r>
            <a:endParaRPr sz="2850" b="1" dirty="0">
              <a:solidFill>
                <a:srgbClr val="F7F7F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86F64B-1BE0-A82F-42E7-B1CB4704973B}"/>
              </a:ext>
            </a:extLst>
          </p:cNvPr>
          <p:cNvSpPr>
            <a:spLocks noGrp="1"/>
          </p:cNvSpPr>
          <p:nvPr/>
        </p:nvSpPr>
        <p:spPr>
          <a:xfrm>
            <a:off x="2949678" y="3367548"/>
            <a:ext cx="5614218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100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dirty="0">
                <a:solidFill>
                  <a:srgbClr val="F7F7F7"/>
                </a:solidFill>
                <a:latin typeface="DejaVu Sans"/>
                <a:ea typeface="DejaVu Sans"/>
                <a:cs typeface="DejaVu Sans"/>
                <a:hlinkClick r:id="rId2"/>
              </a:rPr>
              <a:t>https://michaelbach.de/ot/mot-Ternus/</a:t>
            </a:r>
            <a:endParaRPr lang="en-US" sz="2100" dirty="0">
              <a:solidFill>
                <a:srgbClr val="F7F7F7"/>
              </a:solidFill>
              <a:latin typeface="DejaVu Sans"/>
              <a:ea typeface="DejaVu Sans"/>
              <a:cs typeface="DejaVu Sans"/>
            </a:endParaRPr>
          </a:p>
          <a:p>
            <a:pPr algn="ctr">
              <a:defRPr sz="2100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endParaRPr sz="2100" dirty="0">
              <a:solidFill>
                <a:srgbClr val="F7F7F7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351402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A484E-984A-8862-E110-153EDE547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D12C03-CAA5-4F7A-281E-6F924761AEE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Exercise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80A339-4956-1781-CAFC-967F99D087A7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One procedural sequence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61E040-5113-C87F-38E2-FB30CCA07862}"/>
              </a:ext>
            </a:extLst>
          </p:cNvPr>
          <p:cNvSpPr>
            <a:spLocks noGrp="1"/>
          </p:cNvSpPr>
          <p:nvPr/>
        </p:nvSpPr>
        <p:spPr>
          <a:xfrm>
            <a:off x="904875" y="16192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1D8C8A-1776-C6B3-3F2A-BE70CC023EFA}"/>
              </a:ext>
            </a:extLst>
          </p:cNvPr>
          <p:cNvSpPr>
            <a:spLocks noGrp="1"/>
          </p:cNvSpPr>
          <p:nvPr/>
        </p:nvSpPr>
        <p:spPr>
          <a:xfrm>
            <a:off x="1619250" y="160020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Create only main.py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EC1757-BD80-254A-B901-8B16347B9CDA}"/>
              </a:ext>
            </a:extLst>
          </p:cNvPr>
          <p:cNvSpPr>
            <a:spLocks noGrp="1"/>
          </p:cNvSpPr>
          <p:nvPr/>
        </p:nvSpPr>
        <p:spPr>
          <a:xfrm>
            <a:off x="904875" y="24003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4CF2B0-2F80-0221-73D5-7EBA4B825343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Build Frame A and Frame B on separate Canvas stimuli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D2EC7A-8461-A162-245E-5A34AE53E41A}"/>
              </a:ext>
            </a:extLst>
          </p:cNvPr>
          <p:cNvSpPr>
            <a:spLocks noGrp="1"/>
          </p:cNvSpPr>
          <p:nvPr/>
        </p:nvSpPr>
        <p:spPr>
          <a:xfrm>
            <a:off x="904875" y="31813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6E64B7-BF44-2B6B-3D08-5EE141D64146}"/>
              </a:ext>
            </a:extLst>
          </p:cNvPr>
          <p:cNvSpPr>
            <a:spLocks noGrp="1"/>
          </p:cNvSpPr>
          <p:nvPr/>
        </p:nvSpPr>
        <p:spPr>
          <a:xfrm>
            <a:off x="1619250" y="316230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Preload both frames and present A followed directly by 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18B116-F343-6F58-87D9-F0BBF9033FB3}"/>
              </a:ext>
            </a:extLst>
          </p:cNvPr>
          <p:cNvSpPr>
            <a:spLocks noGrp="1"/>
          </p:cNvSpPr>
          <p:nvPr/>
        </p:nvSpPr>
        <p:spPr>
          <a:xfrm>
            <a:off x="904875" y="39624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9D2791-2F7D-61CA-A47B-B50A25583AD4}"/>
              </a:ext>
            </a:extLst>
          </p:cNvPr>
          <p:cNvSpPr>
            <a:spLocks noGrp="1"/>
          </p:cNvSpPr>
          <p:nvPr/>
        </p:nvSpPr>
        <p:spPr>
          <a:xfrm>
            <a:off x="1619250" y="394335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Run the program after each small addition</a:t>
            </a:r>
          </a:p>
        </p:txBody>
      </p:sp>
    </p:spTree>
    <p:extLst>
      <p:ext uri="{BB962C8B-B14F-4D97-AF65-F5344CB8AC3E}">
        <p14:creationId xmlns:p14="http://schemas.microsoft.com/office/powerpoint/2010/main" val="249824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DE2EE-BB34-4BB5-FB3A-3DE67DC47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E38B538-E4CF-437D-A1C7-708A8CEABEF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Exercise 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634F52-CE3E-9AED-AB74-6A902A43786D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Parameters in config.py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7F701F-ADBC-09A5-28B8-E795988BBDC1}"/>
              </a:ext>
            </a:extLst>
          </p:cNvPr>
          <p:cNvSpPr>
            <a:spLocks noGrp="1"/>
          </p:cNvSpPr>
          <p:nvPr/>
        </p:nvSpPr>
        <p:spPr>
          <a:xfrm>
            <a:off x="904875" y="16192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08E2F0-9CD4-2B95-EE08-31A5831DDEF9}"/>
              </a:ext>
            </a:extLst>
          </p:cNvPr>
          <p:cNvSpPr>
            <a:spLocks noGrp="1"/>
          </p:cNvSpPr>
          <p:nvPr/>
        </p:nvSpPr>
        <p:spPr>
          <a:xfrm>
            <a:off x="1619250" y="160020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Create config.py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AC3BED-54F1-301F-6FA3-530F59D4032B}"/>
              </a:ext>
            </a:extLst>
          </p:cNvPr>
          <p:cNvSpPr>
            <a:spLocks noGrp="1"/>
          </p:cNvSpPr>
          <p:nvPr/>
        </p:nvSpPr>
        <p:spPr>
          <a:xfrm>
            <a:off x="904875" y="24003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070427-6A22-ECC9-C88D-051CF5738928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Move names, colours, positions, sizes, and durations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D2C4CE-FB19-7687-1CE3-842427545F10}"/>
              </a:ext>
            </a:extLst>
          </p:cNvPr>
          <p:cNvSpPr>
            <a:spLocks noGrp="1"/>
          </p:cNvSpPr>
          <p:nvPr/>
        </p:nvSpPr>
        <p:spPr>
          <a:xfrm>
            <a:off x="904875" y="31813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CD0B68-87AC-160C-D1E2-886CB7453BFC}"/>
              </a:ext>
            </a:extLst>
          </p:cNvPr>
          <p:cNvSpPr>
            <a:spLocks noGrp="1"/>
          </p:cNvSpPr>
          <p:nvPr/>
        </p:nvSpPr>
        <p:spPr>
          <a:xfrm>
            <a:off x="1619250" y="316230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Keep stimulus creation in main.py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4E2091-A083-433A-F00A-E874C9FDB722}"/>
              </a:ext>
            </a:extLst>
          </p:cNvPr>
          <p:cNvSpPr>
            <a:spLocks noGrp="1"/>
          </p:cNvSpPr>
          <p:nvPr/>
        </p:nvSpPr>
        <p:spPr>
          <a:xfrm>
            <a:off x="904875" y="39624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2427F9-752C-17C1-736E-9ABA863AE90B}"/>
              </a:ext>
            </a:extLst>
          </p:cNvPr>
          <p:cNvSpPr>
            <a:spLocks noGrp="1"/>
          </p:cNvSpPr>
          <p:nvPr/>
        </p:nvSpPr>
        <p:spPr>
          <a:xfrm>
            <a:off x="1619250" y="394335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 dirty="0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Change one value and verify the result</a:t>
            </a:r>
          </a:p>
        </p:txBody>
      </p:sp>
    </p:spTree>
    <p:extLst>
      <p:ext uri="{BB962C8B-B14F-4D97-AF65-F5344CB8AC3E}">
        <p14:creationId xmlns:p14="http://schemas.microsoft.com/office/powerpoint/2010/main" val="3230344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43F6A-64FC-43D5-B2BA-3B92B8C5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168EC1-6C52-D6DC-C33B-4D937D8BA75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Exercise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4B0E0-A70B-DC30-6867-5F91C44CC227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One response and one saved row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6E5DA5-26A0-ECEB-6AB2-E2B2532AA401}"/>
              </a:ext>
            </a:extLst>
          </p:cNvPr>
          <p:cNvSpPr>
            <a:spLocks noGrp="1"/>
          </p:cNvSpPr>
          <p:nvPr/>
        </p:nvSpPr>
        <p:spPr>
          <a:xfrm>
            <a:off x="904875" y="16192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3B5271-6F4E-0FC5-E32E-5DAC07CED038}"/>
              </a:ext>
            </a:extLst>
          </p:cNvPr>
          <p:cNvSpPr>
            <a:spLocks noGrp="1"/>
          </p:cNvSpPr>
          <p:nvPr/>
        </p:nvSpPr>
        <p:spPr>
          <a:xfrm>
            <a:off x="1619250" y="160020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Ask for LEFT or RIGHT after the sequence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73149C-CCE9-453B-8180-C871082CD5B6}"/>
              </a:ext>
            </a:extLst>
          </p:cNvPr>
          <p:cNvSpPr>
            <a:spLocks noGrp="1"/>
          </p:cNvSpPr>
          <p:nvPr/>
        </p:nvSpPr>
        <p:spPr>
          <a:xfrm>
            <a:off x="904875" y="24003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26C6F9-6F00-1C1E-6BDC-E2848FF9F82E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Translate the key into element or group motion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A706A1-9307-CE8F-1870-835810053336}"/>
              </a:ext>
            </a:extLst>
          </p:cNvPr>
          <p:cNvSpPr>
            <a:spLocks noGrp="1"/>
          </p:cNvSpPr>
          <p:nvPr/>
        </p:nvSpPr>
        <p:spPr>
          <a:xfrm>
            <a:off x="904875" y="31813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68D593-8902-DF49-60D1-C914F0A31790}"/>
              </a:ext>
            </a:extLst>
          </p:cNvPr>
          <p:cNvSpPr>
            <a:spLocks noGrp="1"/>
          </p:cNvSpPr>
          <p:nvPr/>
        </p:nvSpPr>
        <p:spPr>
          <a:xfrm>
            <a:off x="1619250" y="316230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Save the condition, frame duration, response, raw key, and reaction time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56BD5F-48A3-9918-FC0A-6D35C93B984F}"/>
              </a:ext>
            </a:extLst>
          </p:cNvPr>
          <p:cNvSpPr>
            <a:spLocks noGrp="1"/>
          </p:cNvSpPr>
          <p:nvPr/>
        </p:nvSpPr>
        <p:spPr>
          <a:xfrm>
            <a:off x="904875" y="39624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492A22-C79A-B936-BB68-813D2E6404E2}"/>
              </a:ext>
            </a:extLst>
          </p:cNvPr>
          <p:cNvSpPr>
            <a:spLocks noGrp="1"/>
          </p:cNvSpPr>
          <p:nvPr/>
        </p:nvSpPr>
        <p:spPr>
          <a:xfrm>
            <a:off x="1619250" y="394335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Open the .xpd file and check the row</a:t>
            </a:r>
          </a:p>
        </p:txBody>
      </p:sp>
    </p:spTree>
    <p:extLst>
      <p:ext uri="{BB962C8B-B14F-4D97-AF65-F5344CB8AC3E}">
        <p14:creationId xmlns:p14="http://schemas.microsoft.com/office/powerpoint/2010/main" val="1972372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2A165-E48E-7DD0-6685-0D729F1B7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26B936-C52C-87BE-E45B-80201EF3DCA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Exercise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87C1AA-9F45-CC72-F420-5986F197DFE9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One run_trial() function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5710-72E4-E309-3AD7-E09AFB67DC86}"/>
              </a:ext>
            </a:extLst>
          </p:cNvPr>
          <p:cNvSpPr>
            <a:spLocks noGrp="1"/>
          </p:cNvSpPr>
          <p:nvPr/>
        </p:nvSpPr>
        <p:spPr>
          <a:xfrm>
            <a:off x="904875" y="16192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09810F-561A-B5EB-26BC-695AB47CDA91}"/>
              </a:ext>
            </a:extLst>
          </p:cNvPr>
          <p:cNvSpPr>
            <a:spLocks noGrp="1"/>
          </p:cNvSpPr>
          <p:nvPr/>
        </p:nvSpPr>
        <p:spPr>
          <a:xfrm>
            <a:off x="1619250" y="160020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Move the presentation and response sequence into one function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19CCCF-C1F6-5A16-51B1-45795E5411A2}"/>
              </a:ext>
            </a:extLst>
          </p:cNvPr>
          <p:cNvSpPr>
            <a:spLocks noGrp="1"/>
          </p:cNvSpPr>
          <p:nvPr/>
        </p:nvSpPr>
        <p:spPr>
          <a:xfrm>
            <a:off x="904875" y="24003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42A6A7-383D-EDED-0A8D-610B15E7DB50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Keep experiment setup and stimulus creation outside 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CE10BA-7325-D150-062F-A79B9417F250}"/>
              </a:ext>
            </a:extLst>
          </p:cNvPr>
          <p:cNvSpPr>
            <a:spLocks noGrp="1"/>
          </p:cNvSpPr>
          <p:nvPr/>
        </p:nvSpPr>
        <p:spPr>
          <a:xfrm>
            <a:off x="904875" y="31813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F80ED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6B583A-DEDD-F9A5-5473-EF2403A5DDC7}"/>
              </a:ext>
            </a:extLst>
          </p:cNvPr>
          <p:cNvSpPr>
            <a:spLocks noGrp="1"/>
          </p:cNvSpPr>
          <p:nvPr/>
        </p:nvSpPr>
        <p:spPr>
          <a:xfrm>
            <a:off x="1619250" y="3162300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7F7F7"/>
                </a:solidFill>
                <a:latin typeface="DejaVu Sans"/>
                <a:ea typeface="DejaVu Sans"/>
                <a:cs typeface="DejaVu Sans"/>
              </a:rPr>
              <a:t>Return the response, raw key, and reaction time</a:t>
            </a:r>
          </a:p>
        </p:txBody>
      </p:sp>
    </p:spTree>
    <p:extLst>
      <p:ext uri="{BB962C8B-B14F-4D97-AF65-F5344CB8AC3E}">
        <p14:creationId xmlns:p14="http://schemas.microsoft.com/office/powerpoint/2010/main" val="204006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264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DejaVu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</dc:creator>
  <cp:lastModifiedBy>Joao</cp:lastModifiedBy>
  <cp:revision>9</cp:revision>
  <dcterms:created xsi:type="dcterms:W3CDTF">2026-09-22T15:01:25Z</dcterms:created>
  <dcterms:modified xsi:type="dcterms:W3CDTF">2026-10-01T13:24:57Z</dcterms:modified>
</cp:coreProperties>
</file>