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0" r:id="rId6"/>
    <p:sldId id="264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4641" autoAdjust="0"/>
  </p:normalViewPr>
  <p:slideViewPr>
    <p:cSldViewPr snapToGrid="0">
      <p:cViewPr varScale="1">
        <p:scale>
          <a:sx n="45" d="100"/>
          <a:sy n="45" d="100"/>
        </p:scale>
        <p:origin x="20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129B3-DB3C-434A-B66F-2347A93810A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BF94D-B85D-440C-A8C9-DE78AC06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6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BF94D-B85D-440C-A8C9-DE78AC065B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21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BF94D-B85D-440C-A8C9-DE78AC065B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BF94D-B85D-440C-A8C9-DE78AC065B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79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BF94D-B85D-440C-A8C9-DE78AC065B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09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BF94D-B85D-440C-A8C9-DE78AC065B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67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3DBA-0AC9-A6D8-273D-FEA37B7AE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713E6-0D6B-2F72-FBBE-714078CFE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BD1B-B2FA-8F05-E46A-9F50BC43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1FF8E-5B1C-12EE-70C7-55491E01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9DC17-7F1D-D72F-04E0-F4F19266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9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3CA2-D653-9F17-1F88-5DD8C94A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7D6-4359-CB25-B972-AE321625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9BBB-B6E3-16D0-0BA3-59660502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19633-A302-3DEE-AAFC-F14233DC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EC9D-C805-539F-6431-965813C7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3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9E95-B17C-6CD2-3897-C9A9E6FC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A75DF-1E9A-B1A2-9834-C6EBB3253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51BF1-139E-2F49-BD93-BA8A2B8D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7887-5E0F-33B3-8381-D4E8CA4D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B0E42-7F2A-1C0F-BD34-D4FFCA70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2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6C1C-EF6A-19C6-74F9-B50D74E4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17EA-47C8-73A4-D55B-139C8F334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A37D7-0B52-276D-6587-2BAA2386A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80A0-B5D0-E46D-8DF1-29D0903A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BDFB7-084A-4389-A884-FB6411AB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76317-2986-9711-91AC-0A655688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F244-EE29-7A73-5238-D1CF401C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7B1EB-5EF2-DC81-420B-26B4E75A6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95761-9307-B248-5EEA-E5572F898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2851-5E65-A396-06DA-52D87247B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C4F06-F506-6EC0-3D32-76400F80A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F5B8D-A6F9-E876-3C16-C84224DF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9E438-205F-37BC-6CC6-FC14977A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EADC9-D5BE-FDD6-79C2-47FB41C5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2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7CA0-D26B-2F3A-5EF3-797DF47C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3DBA5-BA16-DA74-43AD-9476C030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27420-80A0-5D05-71A9-D373697A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0D11D-EBD7-974B-3826-16E58E52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78E0A-C8DA-C3B7-ED33-190284D9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CED3F-6E3A-E503-5D1A-4DB4D953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2064-BB23-ED1D-4F7E-222A8975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92BA-6214-63D6-D8EE-DD4794D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08CBB-D098-4905-41F5-D8BF362B2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77611-B0CC-72F1-FB0C-C92BD591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3DEB7-DF2C-FBF3-7C11-5A9DE4A2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F15A4-021F-4212-A574-FA9BFBE6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2D852-2152-E401-B872-28D461A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3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A86-008E-683D-052D-39340AEE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4C8C9-5E14-FCBC-74EF-06F111301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B69D3-0DA7-9A09-7FE9-30C393AEF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9672D-9876-1A6E-428C-598FA894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D1007-656D-001A-DABB-27347DF4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F8472-95C5-B72C-D126-4302999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8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F9ED-E591-DF46-5173-0971ADFF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A27D8-31A0-3319-FB92-69357D15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F832-958E-06B0-F574-6D3374F2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964AA-B4D5-70E5-9460-9720D24E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ED1ED-21F9-BF76-5128-DC0D951F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3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9262E-4582-474F-AF63-B80B5DFC1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FE0AB-35EC-D20F-7EA0-341F036C6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6865-C02F-356A-89FA-4F9B81B2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6F06B-9A81-12EF-6DA5-D3DA744D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EA4C7-7D70-7310-8EF8-55FA7653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8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4DF75-D173-5586-6ABA-5731C173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D0301-37F2-D4CB-327F-5A2F5273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3D26-C02F-B2C7-331C-271C97861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8B744-42A2-4CF8-AC89-BA2F34E097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4E8E-2D5F-A057-2F39-6CE1BFB49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BDEC8-7221-6735-9439-9F8F61457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6D88A-1518-4B08-9C5E-037238315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5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BFE3A-6046-B9BC-62D0-0B8F0076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1998781"/>
            <a:ext cx="4095750" cy="1774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341C13-BCB0-4E39-4C73-BF1EF5CE0C57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Course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46F170-3500-6414-D1C9-E010BF8EC59D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5810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350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First steps with</a:t>
            </a:r>
          </a:p>
          <a:p>
            <a:pPr algn="l">
              <a:defRPr sz="4350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 err="1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Expyriment</a:t>
            </a:r>
            <a:endParaRPr sz="4350" b="1" dirty="0">
              <a:solidFill>
                <a:srgbClr val="F7F9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A8869-6F14-55A4-B954-A83854DEABFD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 dirty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João Cardoso – contact email: joaostefani@hotmail.com</a:t>
            </a:r>
            <a:endParaRPr sz="1800" b="0" dirty="0">
              <a:solidFill>
                <a:srgbClr val="B9C4DC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6981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8CB284F-BC12-820D-D8E7-61EF785DE191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What </a:t>
            </a:r>
            <a:r>
              <a:rPr sz="3225" b="1" dirty="0" err="1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Expyriment</a:t>
            </a:r>
            <a:r>
              <a:rPr sz="3225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 does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D05873-9B7A-0E98-1FB3-F09012AA8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60717" y="1714500"/>
            <a:ext cx="3957066" cy="17145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C48EEEB-C9DA-E109-D26B-10018A36300A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6096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14300">
              <a:spcAft>
                <a:spcPts val="1500"/>
              </a:spcAft>
              <a:buChar char="•"/>
              <a:defRPr sz="195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95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A Python library for cognitive and neuroscientific experiments</a:t>
            </a:r>
          </a:p>
          <a:p>
            <a:pPr marL="254000" indent="-114300">
              <a:spcAft>
                <a:spcPts val="1500"/>
              </a:spcAft>
              <a:buChar char="•"/>
              <a:defRPr sz="195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95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Creates visual and auditory stimuli</a:t>
            </a:r>
          </a:p>
          <a:p>
            <a:pPr marL="254000" indent="-114300">
              <a:spcAft>
                <a:spcPts val="1500"/>
              </a:spcAft>
              <a:buChar char="•"/>
              <a:defRPr sz="195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95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Reads responses and communicates with devices</a:t>
            </a:r>
          </a:p>
          <a:p>
            <a:pPr marL="254000" indent="-114300">
              <a:spcAft>
                <a:spcPts val="1500"/>
              </a:spcAft>
              <a:buChar char="•"/>
              <a:defRPr sz="195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95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Supports experimental structure, timing, and data files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B7F1F6-E343-F0C4-9B4A-22065DF0BF02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Open source, cross-platform, and designed for readable experimental scripts</a:t>
            </a:r>
          </a:p>
        </p:txBody>
      </p:sp>
    </p:spTree>
    <p:extLst>
      <p:ext uri="{BB962C8B-B14F-4D97-AF65-F5344CB8AC3E}">
        <p14:creationId xmlns:p14="http://schemas.microsoft.com/office/powerpoint/2010/main" val="172765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1B5F4-0830-7C53-293E-4387A611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089D96-540D-436B-11A8-21D148336DA5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Where to find help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63E30-FB99-CD05-2241-699C0276F753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Official documentation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25D6FA-4234-36C6-F50B-4497519A26D0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docs.expyriment.org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9761D2-B590-701F-C39B-6164546E440D}"/>
              </a:ext>
            </a:extLst>
          </p:cNvPr>
          <p:cNvSpPr>
            <a:spLocks noGrp="1"/>
          </p:cNvSpPr>
          <p:nvPr/>
        </p:nvSpPr>
        <p:spPr>
          <a:xfrm>
            <a:off x="4352925" y="14668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Beginner tutorial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B009DD-2909-B7DA-219B-50B85AE178B6}"/>
              </a:ext>
            </a:extLst>
          </p:cNvPr>
          <p:cNvSpPr>
            <a:spLocks noGrp="1"/>
          </p:cNvSpPr>
          <p:nvPr/>
        </p:nvSpPr>
        <p:spPr>
          <a:xfrm>
            <a:off x="4352925" y="18573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Tutorial page in the official docs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E96A9-9870-2E60-D53B-969DAA13741C}"/>
              </a:ext>
            </a:extLst>
          </p:cNvPr>
          <p:cNvSpPr>
            <a:spLocks noGrp="1"/>
          </p:cNvSpPr>
          <p:nvPr/>
        </p:nvSpPr>
        <p:spPr>
          <a:xfrm>
            <a:off x="8048625" y="14668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Example stash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886CC-DB23-8FE9-B7C1-1D63232470A2}"/>
              </a:ext>
            </a:extLst>
          </p:cNvPr>
          <p:cNvSpPr>
            <a:spLocks noGrp="1"/>
          </p:cNvSpPr>
          <p:nvPr/>
        </p:nvSpPr>
        <p:spPr>
          <a:xfrm>
            <a:off x="8048625" y="1857375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GitHub: expyriment/expyriment-stash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E040F6-A6DF-5C99-B85A-318374D17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" b="47"/>
          <a:stretch>
            <a:fillRect/>
          </a:stretch>
        </p:blipFill>
        <p:spPr>
          <a:xfrm>
            <a:off x="723900" y="2667000"/>
            <a:ext cx="3381375" cy="2533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BFB6CB-2C55-B86E-AABD-F47E973D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00550" y="2788121"/>
            <a:ext cx="3381375" cy="2291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9522BC-D83D-300D-5BD1-E880976AE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96354" y="2543175"/>
            <a:ext cx="1790617" cy="27336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F8872D2-6674-2EF3-651D-3CF15A6AA885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381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Stroop 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F7842-2899-1D30-FC12-4CBB3448F599}"/>
              </a:ext>
            </a:extLst>
          </p:cNvPr>
          <p:cNvSpPr>
            <a:spLocks noGrp="1"/>
          </p:cNvSpPr>
          <p:nvPr/>
        </p:nvSpPr>
        <p:spPr>
          <a:xfrm>
            <a:off x="4400550" y="5391150"/>
            <a:ext cx="3381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Sentence-picture matching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E95E63-A795-5DF6-DD74-5A0A555E126E}"/>
              </a:ext>
            </a:extLst>
          </p:cNvPr>
          <p:cNvSpPr>
            <a:spLocks noGrp="1"/>
          </p:cNvSpPr>
          <p:nvPr/>
        </p:nvSpPr>
        <p:spPr>
          <a:xfrm>
            <a:off x="8020050" y="539115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Card game</a:t>
            </a:r>
          </a:p>
        </p:txBody>
      </p:sp>
    </p:spTree>
    <p:extLst>
      <p:ext uri="{BB962C8B-B14F-4D97-AF65-F5344CB8AC3E}">
        <p14:creationId xmlns:p14="http://schemas.microsoft.com/office/powerpoint/2010/main" val="276366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1E3AD-3FA8-2985-2E3A-436B49C9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EECF5-C684-D1E6-1DF2-E67D467F7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9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45E1C-A55D-B7AD-9637-EC454986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C93434-2949-9A5D-9566-39A224A3A61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Illusory line motion: a short history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4AACA0-1F41-8DE0-2CDB-51FDD644539B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A cue appears near one end…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6A65A-E2E3-87DF-CF9B-AE4FE5E4675D}"/>
              </a:ext>
            </a:extLst>
          </p:cNvPr>
          <p:cNvSpPr>
            <a:spLocks noGrp="1"/>
          </p:cNvSpPr>
          <p:nvPr/>
        </p:nvSpPr>
        <p:spPr>
          <a:xfrm>
            <a:off x="647700" y="5446869"/>
            <a:ext cx="5132520" cy="83386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…then the complete line appears at once</a:t>
            </a:r>
            <a:r>
              <a:rPr lang="en-US" sz="18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US" dirty="0"/>
              <a:t>(</a:t>
            </a:r>
            <a:r>
              <a:rPr lang="en-US" sz="200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Downing &amp; Treisman</a:t>
            </a:r>
            <a:r>
              <a:rPr lang="en-US" dirty="0"/>
              <a:t>, 1997)</a:t>
            </a:r>
            <a:r>
              <a:rPr sz="18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4CA61E-5D72-85EF-E454-09B1ADF3B9A6}"/>
              </a:ext>
            </a:extLst>
          </p:cNvPr>
          <p:cNvSpPr>
            <a:spLocks noGrp="1"/>
          </p:cNvSpPr>
          <p:nvPr/>
        </p:nvSpPr>
        <p:spPr>
          <a:xfrm>
            <a:off x="6200775" y="1571625"/>
            <a:ext cx="19050" cy="4238625"/>
          </a:xfrm>
          <a:prstGeom prst="rect">
            <a:avLst/>
          </a:prstGeom>
          <a:solidFill>
            <a:srgbClr val="30415F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EBDBE-5D73-FE6F-5C7D-339531231230}"/>
              </a:ext>
            </a:extLst>
          </p:cNvPr>
          <p:cNvSpPr>
            <a:spLocks noGrp="1"/>
          </p:cNvSpPr>
          <p:nvPr/>
        </p:nvSpPr>
        <p:spPr>
          <a:xfrm>
            <a:off x="7858125" y="2196866"/>
            <a:ext cx="352425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 err="1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Hikosaka</a:t>
            </a:r>
            <a:r>
              <a:rPr sz="15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, Miyauchi &amp; </a:t>
            </a:r>
            <a:r>
              <a:rPr sz="1575" b="0" dirty="0" err="1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Shimojo</a:t>
            </a:r>
            <a:endParaRPr sz="1575" b="0" dirty="0">
              <a:solidFill>
                <a:srgbClr val="F7F9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Use the illusion to probe spatial attention.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81EDB-EE40-E356-EEBD-64BADBD58625}"/>
              </a:ext>
            </a:extLst>
          </p:cNvPr>
          <p:cNvSpPr>
            <a:spLocks noGrp="1"/>
          </p:cNvSpPr>
          <p:nvPr/>
        </p:nvSpPr>
        <p:spPr>
          <a:xfrm>
            <a:off x="7858125" y="3797880"/>
            <a:ext cx="352425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Jancke et al.; Rangan et al.</a:t>
            </a:r>
          </a:p>
          <a:p>
            <a:pPr algn="l">
              <a:defRPr sz="157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Measure and model wave-like population activity in early visual cortex.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A48A4-3169-4F93-0EAF-F62EAB3DD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162175"/>
            <a:ext cx="5189670" cy="302540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5955807-6159-0CAC-567B-7ABC34009F87}"/>
              </a:ext>
            </a:extLst>
          </p:cNvPr>
          <p:cNvSpPr>
            <a:spLocks noGrp="1"/>
          </p:cNvSpPr>
          <p:nvPr/>
        </p:nvSpPr>
        <p:spPr>
          <a:xfrm>
            <a:off x="6524625" y="2402417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FB9CDB-172B-EBD7-D1D2-0DE252B18E14}"/>
              </a:ext>
            </a:extLst>
          </p:cNvPr>
          <p:cNvSpPr>
            <a:spLocks noGrp="1"/>
          </p:cNvSpPr>
          <p:nvPr/>
        </p:nvSpPr>
        <p:spPr>
          <a:xfrm>
            <a:off x="6524625" y="2402417"/>
            <a:ext cx="11239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B102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0B1020"/>
                </a:solidFill>
                <a:latin typeface="DejaVu Sans"/>
                <a:ea typeface="DejaVu Sans"/>
                <a:cs typeface="DejaVu Sans"/>
              </a:rPr>
              <a:t>1993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5024508-5621-CE51-EE58-2E6705F4B9A6}"/>
              </a:ext>
            </a:extLst>
          </p:cNvPr>
          <p:cNvSpPr>
            <a:spLocks noGrp="1"/>
          </p:cNvSpPr>
          <p:nvPr/>
        </p:nvSpPr>
        <p:spPr>
          <a:xfrm>
            <a:off x="6524625" y="3875615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0"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E51E28-7E31-970F-F9D1-A4561C0CC7E8}"/>
              </a:ext>
            </a:extLst>
          </p:cNvPr>
          <p:cNvSpPr>
            <a:spLocks noGrp="1"/>
          </p:cNvSpPr>
          <p:nvPr/>
        </p:nvSpPr>
        <p:spPr>
          <a:xfrm>
            <a:off x="6524625" y="3875615"/>
            <a:ext cx="1175262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B102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0B1020"/>
                </a:solidFill>
                <a:latin typeface="DejaVu Sans"/>
                <a:ea typeface="DejaVu Sans"/>
                <a:cs typeface="DejaVu Sans"/>
              </a:rPr>
              <a:t>2004–05</a:t>
            </a:r>
          </a:p>
        </p:txBody>
      </p:sp>
    </p:spTree>
    <p:extLst>
      <p:ext uri="{BB962C8B-B14F-4D97-AF65-F5344CB8AC3E}">
        <p14:creationId xmlns:p14="http://schemas.microsoft.com/office/powerpoint/2010/main" val="106272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533DE-7EA2-0663-8730-CDD3B458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B7CD9-9FC9-E937-8B5D-C5901536E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9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683E-844A-5123-653A-C6A1FEE0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14303-5937-F91A-FFF5-7F448CA3D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8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FF028-0CBD-6CD1-1492-A4A2E656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21F8DA-6D88-3B6E-369C-1FBC006D2E1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What the illusion lets us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336B4-C04F-7DE6-692B-F880FF1F5413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The screen says: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3EAC9E-B6DC-ABFB-CB1D-2ED6D559C38C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3619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F3C969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>
                <a:solidFill>
                  <a:srgbClr val="7EA7FF"/>
                </a:solidFill>
                <a:latin typeface="DejaVu Sans"/>
              </a:rPr>
              <a:t>STATIC 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802D14-C0F8-3FF5-B836-55D6A52980CB}"/>
              </a:ext>
            </a:extLst>
          </p:cNvPr>
          <p:cNvSpPr>
            <a:spLocks noGrp="1"/>
          </p:cNvSpPr>
          <p:nvPr/>
        </p:nvSpPr>
        <p:spPr>
          <a:xfrm>
            <a:off x="704850" y="28860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B9C4D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>
                <a:solidFill>
                  <a:srgbClr val="B9C4DC"/>
                </a:solidFill>
                <a:latin typeface="DejaVu Sans"/>
                <a:ea typeface="DejaVu Sans"/>
                <a:cs typeface="DejaVu Sans"/>
              </a:rPr>
              <a:t>Perception says: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06903-E250-E738-4E11-2FA938428B64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3619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F3C969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>
                <a:solidFill>
                  <a:srgbClr val="7EA7FF"/>
                </a:solidFill>
                <a:latin typeface="DejaVu Sans"/>
              </a:rPr>
              <a:t>MOTION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BD3915-3BB3-4E7B-01F6-1E5EE429344A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SPATIAL ATTENTION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8F4807-777F-9AE6-DE67-6407B2A2D829}"/>
              </a:ext>
            </a:extLst>
          </p:cNvPr>
          <p:cNvSpPr>
            <a:spLocks noGrp="1"/>
          </p:cNvSpPr>
          <p:nvPr/>
        </p:nvSpPr>
        <p:spPr>
          <a:xfrm>
            <a:off x="6057900" y="193357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Does </a:t>
            </a:r>
            <a:r>
              <a:rPr lang="pt-BR" sz="1725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te stimulus </a:t>
            </a:r>
            <a:r>
              <a:rPr sz="172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change when information becomes available?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326CDE-0DE6-87F8-2FA4-6D9F98121405}"/>
              </a:ext>
            </a:extLst>
          </p:cNvPr>
          <p:cNvSpPr>
            <a:spLocks noGrp="1"/>
          </p:cNvSpPr>
          <p:nvPr/>
        </p:nvSpPr>
        <p:spPr>
          <a:xfrm>
            <a:off x="6057900" y="270510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SUBJECTIVE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0EF327-25CA-F4E4-231E-F78F832C9745}"/>
              </a:ext>
            </a:extLst>
          </p:cNvPr>
          <p:cNvSpPr>
            <a:spLocks noGrp="1"/>
          </p:cNvSpPr>
          <p:nvPr/>
        </p:nvSpPr>
        <p:spPr>
          <a:xfrm>
            <a:off x="6057900" y="303847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Why can simultaneous line pixels feel temporally ordered?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7BB03F-A211-5828-B152-AAC138AF9ACC}"/>
              </a:ext>
            </a:extLst>
          </p:cNvPr>
          <p:cNvSpPr>
            <a:spLocks noGrp="1"/>
          </p:cNvSpPr>
          <p:nvPr/>
        </p:nvSpPr>
        <p:spPr>
          <a:xfrm>
            <a:off x="6057900" y="381000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7E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7EA7FF"/>
                </a:solidFill>
                <a:latin typeface="DejaVu Sans"/>
                <a:ea typeface="DejaVu Sans"/>
                <a:cs typeface="DejaVu Sans"/>
              </a:rPr>
              <a:t>APPARENT MOTION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01AAD0-2BA6-8308-CE9C-4F4B84057F26}"/>
              </a:ext>
            </a:extLst>
          </p:cNvPr>
          <p:cNvSpPr>
            <a:spLocks noGrp="1"/>
          </p:cNvSpPr>
          <p:nvPr/>
        </p:nvSpPr>
        <p:spPr>
          <a:xfrm>
            <a:off x="6057900" y="414337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How does vision interpolate between discrete states?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9AB9DD-7DE0-6081-1571-1742BA00BBB6}"/>
              </a:ext>
            </a:extLst>
          </p:cNvPr>
          <p:cNvSpPr>
            <a:spLocks noGrp="1"/>
          </p:cNvSpPr>
          <p:nvPr/>
        </p:nvSpPr>
        <p:spPr>
          <a:xfrm>
            <a:off x="6057900" y="491490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3C9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7EA7FF"/>
                </a:solidFill>
                <a:latin typeface="DejaVu Sans"/>
              </a:rPr>
              <a:t>CORTICAL DYNAMICS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F12D5-A47D-C1E9-D72A-5868F318EAC7}"/>
              </a:ext>
            </a:extLst>
          </p:cNvPr>
          <p:cNvSpPr>
            <a:spLocks noGrp="1"/>
          </p:cNvSpPr>
          <p:nvPr/>
        </p:nvSpPr>
        <p:spPr>
          <a:xfrm>
            <a:off x="6057900" y="524827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7F9FF"/>
                </a:solidFill>
                <a:latin typeface="DejaVu Sans"/>
                <a:ea typeface="DejaVu Sans"/>
                <a:cs typeface="DejaVu Sans"/>
              </a:rPr>
              <a:t>Can population activity resemble real motion without retinal motion?</a:t>
            </a:r>
          </a:p>
        </p:txBody>
      </p:sp>
    </p:spTree>
    <p:extLst>
      <p:ext uri="{BB962C8B-B14F-4D97-AF65-F5344CB8AC3E}">
        <p14:creationId xmlns:p14="http://schemas.microsoft.com/office/powerpoint/2010/main" val="45098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220</Words>
  <Application>Microsoft Office PowerPoint</Application>
  <PresentationFormat>Widescreen</PresentationFormat>
  <Paragraphs>47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</dc:creator>
  <cp:lastModifiedBy>Joao</cp:lastModifiedBy>
  <cp:revision>13</cp:revision>
  <dcterms:created xsi:type="dcterms:W3CDTF">2026-09-22T15:01:25Z</dcterms:created>
  <dcterms:modified xsi:type="dcterms:W3CDTF">2026-09-24T13:22:18Z</dcterms:modified>
</cp:coreProperties>
</file>